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27">
          <p15:clr>
            <a:srgbClr val="A4A3A4"/>
          </p15:clr>
        </p15:guide>
        <p15:guide id="2" pos="3868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DzXWgN4cZ3F+2yJ2os9Ag1TP4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27" orient="horz"/>
        <p:guide pos="38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da048174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da04817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/>
          <p:nvPr/>
        </p:nvSpPr>
        <p:spPr>
          <a:xfrm>
            <a:off x="0" y="0"/>
            <a:ext cx="12192000" cy="234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785813" y="1314450"/>
            <a:ext cx="10664825" cy="103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2" type="body"/>
          </p:nvPr>
        </p:nvSpPr>
        <p:spPr>
          <a:xfrm>
            <a:off x="838200" y="2843213"/>
            <a:ext cx="10612438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/>
          <p:nvPr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/>
          <p:nvPr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" name="Google Shape;21;p17"/>
          <p:cNvGrpSpPr/>
          <p:nvPr/>
        </p:nvGrpSpPr>
        <p:grpSpPr>
          <a:xfrm>
            <a:off x="0" y="49500"/>
            <a:ext cx="2844750" cy="274500"/>
            <a:chOff x="5228062" y="49500"/>
            <a:chExt cx="2844750" cy="274500"/>
          </a:xfrm>
        </p:grpSpPr>
        <p:sp>
          <p:nvSpPr>
            <p:cNvPr id="22" name="Google Shape;22;p17"/>
            <p:cNvSpPr/>
            <p:nvPr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7"/>
            <p:cNvSpPr/>
            <p:nvPr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17"/>
          <p:cNvGrpSpPr/>
          <p:nvPr/>
        </p:nvGrpSpPr>
        <p:grpSpPr>
          <a:xfrm>
            <a:off x="9382650" y="6596925"/>
            <a:ext cx="2844750" cy="274500"/>
            <a:chOff x="9347250" y="6571200"/>
            <a:chExt cx="2844750" cy="274500"/>
          </a:xfrm>
        </p:grpSpPr>
        <p:sp>
          <p:nvSpPr>
            <p:cNvPr id="25" name="Google Shape;25;p17"/>
            <p:cNvSpPr/>
            <p:nvPr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7"/>
            <p:cNvSpPr/>
            <p:nvPr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2033588"/>
            <a:ext cx="104441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/>
          <p:nvPr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8"/>
          <p:cNvSpPr/>
          <p:nvPr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oogle Shape;33;p18"/>
          <p:cNvGrpSpPr/>
          <p:nvPr/>
        </p:nvGrpSpPr>
        <p:grpSpPr>
          <a:xfrm>
            <a:off x="9347250" y="37980"/>
            <a:ext cx="2844750" cy="286020"/>
            <a:chOff x="9347250" y="37980"/>
            <a:chExt cx="2844750" cy="286020"/>
          </a:xfrm>
        </p:grpSpPr>
        <p:sp>
          <p:nvSpPr>
            <p:cNvPr id="34" name="Google Shape;34;p18"/>
            <p:cNvSpPr/>
            <p:nvPr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18"/>
          <p:cNvGrpSpPr/>
          <p:nvPr/>
        </p:nvGrpSpPr>
        <p:grpSpPr>
          <a:xfrm>
            <a:off x="-35250" y="6583500"/>
            <a:ext cx="2844750" cy="274500"/>
            <a:chOff x="-35250" y="6583500"/>
            <a:chExt cx="2844750" cy="274500"/>
          </a:xfrm>
        </p:grpSpPr>
        <p:sp>
          <p:nvSpPr>
            <p:cNvPr id="37" name="Google Shape;37;p18"/>
            <p:cNvSpPr/>
            <p:nvPr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/>
          <p:nvPr/>
        </p:nvSpPr>
        <p:spPr>
          <a:xfrm>
            <a:off x="0" y="4509000"/>
            <a:ext cx="12192000" cy="234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785813" y="1314450"/>
            <a:ext cx="10664825" cy="292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type="title"/>
          </p:nvPr>
        </p:nvSpPr>
        <p:spPr>
          <a:xfrm>
            <a:off x="785813" y="55937"/>
            <a:ext cx="10515600" cy="917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3621000" y="365125"/>
            <a:ext cx="7732800" cy="103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/>
          <p:nvPr/>
        </p:nvSpPr>
        <p:spPr>
          <a:xfrm>
            <a:off x="0" y="0"/>
            <a:ext cx="285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3576638" y="1673225"/>
            <a:ext cx="7785100" cy="4951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6095998" y="365125"/>
            <a:ext cx="52578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/>
          <p:nvPr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2"/>
          <p:cNvSpPr/>
          <p:nvPr/>
        </p:nvSpPr>
        <p:spPr>
          <a:xfrm>
            <a:off x="12450" y="6772425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/>
          <p:nvPr>
            <p:ph idx="2" type="pic"/>
          </p:nvPr>
        </p:nvSpPr>
        <p:spPr>
          <a:xfrm>
            <a:off x="20850" y="-575"/>
            <a:ext cx="5186362" cy="68585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59" name="Google Shape;59;p22"/>
          <p:cNvGrpSpPr/>
          <p:nvPr/>
        </p:nvGrpSpPr>
        <p:grpSpPr>
          <a:xfrm>
            <a:off x="5207212" y="36075"/>
            <a:ext cx="2844750" cy="274500"/>
            <a:chOff x="5228062" y="49500"/>
            <a:chExt cx="2844750" cy="274500"/>
          </a:xfrm>
        </p:grpSpPr>
        <p:sp>
          <p:nvSpPr>
            <p:cNvPr id="60" name="Google Shape;60;p22"/>
            <p:cNvSpPr/>
            <p:nvPr/>
          </p:nvSpPr>
          <p:spPr>
            <a:xfrm>
              <a:off x="5228062" y="495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2"/>
            <p:cNvSpPr/>
            <p:nvPr/>
          </p:nvSpPr>
          <p:spPr>
            <a:xfrm>
              <a:off x="7465312" y="4950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22"/>
          <p:cNvGrpSpPr/>
          <p:nvPr/>
        </p:nvGrpSpPr>
        <p:grpSpPr>
          <a:xfrm>
            <a:off x="9382650" y="6596925"/>
            <a:ext cx="2844750" cy="274500"/>
            <a:chOff x="9347250" y="6571200"/>
            <a:chExt cx="2844750" cy="274500"/>
          </a:xfrm>
        </p:grpSpPr>
        <p:sp>
          <p:nvSpPr>
            <p:cNvPr id="63" name="Google Shape;63;p22"/>
            <p:cNvSpPr/>
            <p:nvPr/>
          </p:nvSpPr>
          <p:spPr>
            <a:xfrm>
              <a:off x="9651000" y="65712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2"/>
            <p:cNvSpPr/>
            <p:nvPr/>
          </p:nvSpPr>
          <p:spPr>
            <a:xfrm rot="10800000">
              <a:off x="9347250" y="657120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6096000" y="2033588"/>
            <a:ext cx="51863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>
  <p:cSld name="1_Пустой слайд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0" y="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3"/>
          <p:cNvSpPr/>
          <p:nvPr/>
        </p:nvSpPr>
        <p:spPr>
          <a:xfrm>
            <a:off x="0" y="6759000"/>
            <a:ext cx="12192000" cy="9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23"/>
          <p:cNvGrpSpPr/>
          <p:nvPr/>
        </p:nvGrpSpPr>
        <p:grpSpPr>
          <a:xfrm>
            <a:off x="4161000" y="150"/>
            <a:ext cx="2844750" cy="286020"/>
            <a:chOff x="9347250" y="37980"/>
            <a:chExt cx="2844750" cy="286020"/>
          </a:xfrm>
        </p:grpSpPr>
        <p:sp>
          <p:nvSpPr>
            <p:cNvPr id="70" name="Google Shape;70;p23"/>
            <p:cNvSpPr/>
            <p:nvPr/>
          </p:nvSpPr>
          <p:spPr>
            <a:xfrm>
              <a:off x="9651000" y="495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9347250" y="3798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-35250" y="6583500"/>
            <a:ext cx="2844750" cy="274500"/>
            <a:chOff x="-35250" y="6583500"/>
            <a:chExt cx="2844750" cy="274500"/>
          </a:xfrm>
        </p:grpSpPr>
        <p:sp>
          <p:nvSpPr>
            <p:cNvPr id="73" name="Google Shape;73;p23"/>
            <p:cNvSpPr/>
            <p:nvPr/>
          </p:nvSpPr>
          <p:spPr>
            <a:xfrm>
              <a:off x="-35250" y="6583500"/>
              <a:ext cx="2541000" cy="27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/>
            <p:nvPr/>
          </p:nvSpPr>
          <p:spPr>
            <a:xfrm rot="10800000">
              <a:off x="2202000" y="6583500"/>
              <a:ext cx="607500" cy="274500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23"/>
          <p:cNvSpPr/>
          <p:nvPr>
            <p:ph idx="2" type="pic"/>
          </p:nvPr>
        </p:nvSpPr>
        <p:spPr>
          <a:xfrm>
            <a:off x="7005638" y="9000"/>
            <a:ext cx="5186362" cy="33300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3"/>
          <p:cNvSpPr txBox="1"/>
          <p:nvPr>
            <p:ph type="title"/>
          </p:nvPr>
        </p:nvSpPr>
        <p:spPr>
          <a:xfrm>
            <a:off x="664987" y="485501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664987" y="2153964"/>
            <a:ext cx="5186363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3"/>
          <p:cNvSpPr/>
          <p:nvPr>
            <p:ph idx="3" type="pic"/>
          </p:nvPr>
        </p:nvSpPr>
        <p:spPr>
          <a:xfrm>
            <a:off x="6984638" y="3519000"/>
            <a:ext cx="5186362" cy="333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>
            <a:off x="425450" y="234000"/>
            <a:ext cx="113411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/>
          <p:nvPr>
            <p:ph idx="2" type="pic"/>
          </p:nvPr>
        </p:nvSpPr>
        <p:spPr>
          <a:xfrm>
            <a:off x="425450" y="2303463"/>
            <a:ext cx="4005550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4"/>
          <p:cNvSpPr/>
          <p:nvPr>
            <p:ph idx="3" type="pic"/>
          </p:nvPr>
        </p:nvSpPr>
        <p:spPr>
          <a:xfrm>
            <a:off x="4595341" y="2303463"/>
            <a:ext cx="4005550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4"/>
          <p:cNvSpPr/>
          <p:nvPr>
            <p:ph idx="4" type="pic"/>
          </p:nvPr>
        </p:nvSpPr>
        <p:spPr>
          <a:xfrm>
            <a:off x="8761675" y="2303463"/>
            <a:ext cx="3004875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/>
          <p:nvPr>
            <p:ph idx="5" type="pic"/>
          </p:nvPr>
        </p:nvSpPr>
        <p:spPr>
          <a:xfrm>
            <a:off x="425450" y="4058163"/>
            <a:ext cx="3004875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6" type="pic"/>
          </p:nvPr>
        </p:nvSpPr>
        <p:spPr>
          <a:xfrm>
            <a:off x="3606109" y="4058163"/>
            <a:ext cx="4005550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7" type="pic"/>
          </p:nvPr>
        </p:nvSpPr>
        <p:spPr>
          <a:xfrm>
            <a:off x="7776000" y="4058163"/>
            <a:ext cx="4005550" cy="1620837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439739" y="1493838"/>
            <a:ext cx="11341100" cy="627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8" name="Google Shape;128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8.xml"/><Relationship Id="rId21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1" name="Google Shape;11;p15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94000" y="367393"/>
            <a:ext cx="757762" cy="7577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hyperlink" Target="https://bcs-express.ru/novosti-i-analitika/aeroflot-raskryl-rezul-taty-dopemissii-aktsii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rbc.ru/interview/business/28/12/2022/63a5876c9a79475476ebc07e" TargetMode="External"/><Relationship Id="rId4" Type="http://schemas.openxmlformats.org/officeDocument/2006/relationships/hyperlink" Target="https://www.forbes.ru/investicii/532025-pervaa-pribyl-za-pat-let-o-cem-investoram-soobsil-aeroflot" TargetMode="External"/><Relationship Id="rId5" Type="http://schemas.openxmlformats.org/officeDocument/2006/relationships/hyperlink" Target="https://ir.aeroflot.ru/reporting/financial-results/ifrs/" TargetMode="External"/><Relationship Id="rId6" Type="http://schemas.openxmlformats.org/officeDocument/2006/relationships/hyperlink" Target="https://investor.turkishairlines.com/en/financial-and-operational/financial-results?page=1&amp;year=-&amp;term=12-month" TargetMode="External"/><Relationship Id="rId7" Type="http://schemas.openxmlformats.org/officeDocument/2006/relationships/hyperlink" Target="https://smart-lab.ru/q/UTAR/f/y/MSFO/" TargetMode="External"/><Relationship Id="rId8" Type="http://schemas.openxmlformats.org/officeDocument/2006/relationships/hyperlink" Target="https://www.cbr.ru/currency_base/dynam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idx="2" type="body"/>
          </p:nvPr>
        </p:nvSpPr>
        <p:spPr>
          <a:xfrm>
            <a:off x="924475" y="5589000"/>
            <a:ext cx="92067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ru-R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Работала</a:t>
            </a:r>
            <a:r>
              <a:rPr lang="ru-R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команда DeepAccounting: 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ru-R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Бараненков Никита, Баринов Николай, Докучаев Алексей,</a:t>
            </a:r>
            <a:r>
              <a:rPr lang="ru-R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Сарсенбекова Умай</a:t>
            </a:r>
            <a:endParaRPr/>
          </a:p>
        </p:txBody>
      </p:sp>
      <p:sp>
        <p:nvSpPr>
          <p:cNvPr id="156" name="Google Shape;156;p1"/>
          <p:cNvSpPr txBox="1"/>
          <p:nvPr>
            <p:ph type="title"/>
          </p:nvPr>
        </p:nvSpPr>
        <p:spPr>
          <a:xfrm>
            <a:off x="497100" y="729000"/>
            <a:ext cx="11197800" cy="1035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финансовой отчётности</a:t>
            </a:r>
            <a:endParaRPr b="1" sz="1000">
              <a:solidFill>
                <a:schemeClr val="lt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FC000"/>
              </a:buClr>
              <a:buSzPts val="6000"/>
              <a:buFont typeface="Times New Roman"/>
              <a:buNone/>
            </a:pPr>
            <a:r>
              <a:rPr b="1" lang="ru-RU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компании Аэрофлот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924781" y="3316484"/>
            <a:ext cx="7106219" cy="19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i="0" lang="ru-RU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Презентация итогов </a:t>
            </a:r>
            <a:r>
              <a:rPr b="1" lang="ru-RU" sz="3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мини-проекта по финансовому учёту и отчётности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atistics Generic Grey icon | Freepik" id="158" name="Google Shape;1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275" y="4329125"/>
            <a:ext cx="1631479" cy="1631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istics Generic Grey icon | Freepik" id="159" name="Google Shape;1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7750" y="2843988"/>
            <a:ext cx="1631479" cy="1631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ru-RU">
                <a:solidFill>
                  <a:schemeClr val="dk2"/>
                </a:solidFill>
              </a:rPr>
              <a:t>Цель проекта</a:t>
            </a:r>
            <a:endParaRPr/>
          </a:p>
        </p:txBody>
      </p:sp>
      <p:sp>
        <p:nvSpPr>
          <p:cNvPr id="165" name="Google Shape;165;p2"/>
          <p:cNvSpPr txBox="1"/>
          <p:nvPr>
            <p:ph idx="1" type="body"/>
          </p:nvPr>
        </p:nvSpPr>
        <p:spPr>
          <a:xfrm>
            <a:off x="837258" y="1896389"/>
            <a:ext cx="10444163" cy="120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</a:pPr>
            <a:r>
              <a:rPr lang="ru-RU" sz="3000">
                <a:solidFill>
                  <a:schemeClr val="dk2"/>
                </a:solidFill>
              </a:rPr>
              <a:t>Провести анализ финансового положения компании</a:t>
            </a:r>
            <a:endParaRPr sz="3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siness Goal vector icon. Target symbol isolated" id="166" name="Google Shape;1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050" y="440124"/>
            <a:ext cx="1763346" cy="117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"/>
          <p:cNvSpPr txBox="1"/>
          <p:nvPr/>
        </p:nvSpPr>
        <p:spPr>
          <a:xfrm>
            <a:off x="837250" y="4173075"/>
            <a:ext cx="109347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AutoNum type="arabicParenR"/>
            </a:pPr>
            <a:r>
              <a:rPr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Подготовить ОФП и ОПУ компании и конкурентов за несколько лет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AutoNum type="arabicParenR"/>
            </a:pPr>
            <a:r>
              <a:rPr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Рассчитать финансовые показатели, провести горизонтальный анализ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AutoNum type="arabicParenR"/>
            </a:pPr>
            <a:r>
              <a:rPr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Выявить тенденции и сопоставить с конкурентами, сделать выводы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838200" y="28473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i="0" lang="ru-RU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Подзадачи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 Do Checklist Tick Tasks Vector, Detailed List, Tick, List PNG and Vector  with Transparent Background for Free Download" id="169" name="Google Shape;16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350" y="3031258"/>
            <a:ext cx="1755000" cy="957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type="title"/>
          </p:nvPr>
        </p:nvSpPr>
        <p:spPr>
          <a:xfrm>
            <a:off x="838199" y="755175"/>
            <a:ext cx="908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Font typeface="Calibri"/>
              <a:buNone/>
            </a:pPr>
            <a:r>
              <a:rPr lang="ru-RU">
                <a:solidFill>
                  <a:schemeClr val="dk2"/>
                </a:solidFill>
              </a:rPr>
              <a:t>Аэрофлот — российские авиалинии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5" name="Google Shape;175;p4"/>
          <p:cNvSpPr txBox="1"/>
          <p:nvPr>
            <p:ph idx="1" type="body"/>
          </p:nvPr>
        </p:nvSpPr>
        <p:spPr>
          <a:xfrm>
            <a:off x="838200" y="2317775"/>
            <a:ext cx="108021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6957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</a:rPr>
              <a:t>Флагманский перевозчик РФ, публичная компания. </a:t>
            </a: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</a:rPr>
              <a:t>Занимается авиаперевозками с 1992 года (основана в 1923 году как “Добролёт”)</a:t>
            </a:r>
            <a:endParaRPr sz="24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Calibri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</a:rPr>
              <a:t>Осуществляет регулярные и чартерные пассажирские перевозки (внутренние и международные), грузовые авиаперевозки и оказывает сервисные услуги</a:t>
            </a:r>
            <a:endParaRPr sz="24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</a:rPr>
              <a:t>Пики спроса — летние месяцы, новогодние праздники</a:t>
            </a:r>
            <a:endParaRPr sz="24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indent="-36957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</a:rPr>
              <a:t>Особенности — высокие постоянные затраты, санкции и ограничения (с 2022 года)</a:t>
            </a:r>
            <a:endParaRPr sz="2400">
              <a:solidFill>
                <a:srgbClr val="40404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696000" y="412350"/>
            <a:ext cx="109278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ru-RU" sz="3500">
                <a:solidFill>
                  <a:schemeClr val="dk2"/>
                </a:solidFill>
              </a:rPr>
              <a:t>Конкуренты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824675" y="1854425"/>
            <a:ext cx="10742100" cy="3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ПАО “Авиакомпания “ЮТэйр”” -  российская авиакомпания, образующая вместе с дочерними структурами один из крупнейших в стране авиахолдингов — группу «ЮТэйр». Российский конкурент</a:t>
            </a:r>
            <a:endParaRPr sz="2400">
              <a:solidFill>
                <a:srgbClr val="40404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0404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●"/>
            </a:pP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Турецкие авиалинии (Türk Hava Yolları, THY</a:t>
            </a:r>
            <a:r>
              <a:rPr lang="ru-RU" sz="24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- флагманский перевозчик Турции, базирующийся в Стамбуле, совершает рейсы в 120 стран мира. Международный конкурент</a:t>
            </a:r>
            <a:endParaRPr sz="2400">
              <a:solidFill>
                <a:srgbClr val="40404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/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ru-RU">
                <a:solidFill>
                  <a:schemeClr val="dk2"/>
                </a:solidFill>
              </a:rPr>
              <a:t>Процесс работы</a:t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1776000" y="2117288"/>
            <a:ext cx="2250000" cy="76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4026000" y="2113932"/>
            <a:ext cx="2250000" cy="765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276437" y="2113932"/>
            <a:ext cx="2250000" cy="76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8527800" y="2113932"/>
            <a:ext cx="2250000" cy="765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1776000" y="2888999"/>
            <a:ext cx="2250000" cy="29700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4026000" y="2885643"/>
            <a:ext cx="2250000" cy="29700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6276437" y="2885643"/>
            <a:ext cx="2250000" cy="29700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8527800" y="2885643"/>
            <a:ext cx="2250000" cy="29700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1780257" y="5675644"/>
            <a:ext cx="2250000" cy="18335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4031157" y="5672288"/>
            <a:ext cx="2250000" cy="18335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80694" y="5672288"/>
            <a:ext cx="2250000" cy="18335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8532057" y="5672288"/>
            <a:ext cx="2250000" cy="18335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2413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1000" y="3150018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743" y="3150018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6743" y="3150018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76514" y="3150018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"/>
          <p:cNvSpPr txBox="1"/>
          <p:nvPr/>
        </p:nvSpPr>
        <p:spPr>
          <a:xfrm>
            <a:off x="2583041" y="2123359"/>
            <a:ext cx="7553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4836884" y="2139432"/>
            <a:ext cx="7553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7028026" y="2139432"/>
            <a:ext cx="7553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264301" y="2139432"/>
            <a:ext cx="7553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1880713" y="3935900"/>
            <a:ext cx="216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Подготовка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1931372" y="4580336"/>
            <a:ext cx="193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</a:t>
            </a: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грузка и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объединение финансовых отчётов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4145426" y="3941934"/>
            <a:ext cx="209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ru-RU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Анализ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4071213" y="4453113"/>
            <a:ext cx="216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Проведение горизонтального анализа с 2020 по 2024 год, вычисление коэффициентов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 txBox="1"/>
          <p:nvPr/>
        </p:nvSpPr>
        <p:spPr>
          <a:xfrm>
            <a:off x="6179020" y="3938967"/>
            <a:ext cx="2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Визуализация</a:t>
            </a:r>
            <a:endParaRPr b="0" i="0" sz="14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6319953" y="4580336"/>
            <a:ext cx="216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Построение графиков для наглядной демонстрации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изучения тенденций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8575088" y="3935900"/>
            <a:ext cx="216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8570511" y="4580336"/>
            <a:ext cx="216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</a:t>
            </a: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ормулировка окончательных выводов и рекомендаций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 storage - Free files and folders icons" id="215" name="Google Shape;21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1758" y="3047116"/>
            <a:ext cx="858484" cy="858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ing - Free computer icons" id="216" name="Google Shape;21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6783" y="3049185"/>
            <a:ext cx="858747" cy="858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, chart, clipboard, document, graph, yellow icon - Download on  Iconfinder" id="217" name="Google Shape;217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96000" y="3050600"/>
            <a:ext cx="781991" cy="781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rection, gps, green, location, map, marker, navigation icon - Free  download" id="218" name="Google Shape;21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55665" y="3109456"/>
            <a:ext cx="755335" cy="755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da0481742_1_0"/>
          <p:cNvSpPr txBox="1"/>
          <p:nvPr>
            <p:ph type="title"/>
          </p:nvPr>
        </p:nvSpPr>
        <p:spPr>
          <a:xfrm>
            <a:off x="838200" y="1915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Общее положение</a:t>
            </a:r>
            <a:endParaRPr/>
          </a:p>
        </p:txBody>
      </p:sp>
      <p:pic>
        <p:nvPicPr>
          <p:cNvPr id="224" name="Google Shape;224;g35da048174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962" y="1619762"/>
            <a:ext cx="6862976" cy="47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 txBox="1"/>
          <p:nvPr>
            <p:ph type="title"/>
          </p:nvPr>
        </p:nvSpPr>
        <p:spPr>
          <a:xfrm>
            <a:off x="349875" y="796925"/>
            <a:ext cx="1092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ru-RU" sz="3500"/>
              <a:t>Положение конкурентов</a:t>
            </a:r>
            <a:endParaRPr sz="3500"/>
          </a:p>
        </p:txBody>
      </p:sp>
      <p:pic>
        <p:nvPicPr>
          <p:cNvPr id="230" name="Google Shape;2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50" y="2401208"/>
            <a:ext cx="5911974" cy="4081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825" y="514875"/>
            <a:ext cx="5976049" cy="416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type="title"/>
          </p:nvPr>
        </p:nvSpPr>
        <p:spPr>
          <a:xfrm>
            <a:off x="-2102925" y="4329116"/>
            <a:ext cx="1092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ru-RU" sz="3500"/>
              <a:t>.</a:t>
            </a:r>
            <a:endParaRPr sz="3500"/>
          </a:p>
        </p:txBody>
      </p:sp>
      <p:sp>
        <p:nvSpPr>
          <p:cNvPr id="237" name="Google Shape;237;p7"/>
          <p:cNvSpPr txBox="1"/>
          <p:nvPr/>
        </p:nvSpPr>
        <p:spPr>
          <a:xfrm>
            <a:off x="984900" y="2061405"/>
            <a:ext cx="1035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25" y="1274625"/>
            <a:ext cx="11812951" cy="43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498950" y="437100"/>
            <a:ext cx="11393100" cy="1627200"/>
          </a:xfrm>
          <a:prstGeom prst="rect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-"/>
            </a:pPr>
            <a:r>
              <a:rPr b="0" lang="ru-RU" sz="2000">
                <a:solidFill>
                  <a:schemeClr val="dk2"/>
                </a:solidFill>
              </a:rPr>
              <a:t>Генеральный</a:t>
            </a:r>
            <a:r>
              <a:rPr b="0" lang="ru-RU" sz="2000">
                <a:solidFill>
                  <a:schemeClr val="dk2"/>
                </a:solidFill>
              </a:rPr>
              <a:t> директор “Аэрофлот” о конкуренции с Turkish Airlines: </a:t>
            </a:r>
            <a:endParaRPr b="0"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>
                <a:solidFill>
                  <a:schemeClr val="dk2"/>
                </a:solidFill>
              </a:rPr>
              <a:t>“</a:t>
            </a:r>
            <a:r>
              <a:rPr b="0" lang="ru-RU" sz="1400">
                <a:latin typeface="Arial"/>
                <a:ea typeface="Arial"/>
                <a:cs typeface="Arial"/>
                <a:sym typeface="Arial"/>
              </a:rPr>
              <a:t>Когда открылись полеты в Турцию, никто из российских перевозчиков не мог туда летать, и турецкие перевозчики на российский рынок зашли очень большим объемом. В данной ситуации, наверно, важно, чтобы государство балансировало интересы российских и международных перевозчиков</a:t>
            </a:r>
            <a:r>
              <a:rPr b="0" lang="ru-RU" sz="2000">
                <a:solidFill>
                  <a:schemeClr val="dk2"/>
                </a:solidFill>
              </a:rPr>
              <a:t>” 		</a:t>
            </a:r>
            <a:r>
              <a:rPr b="0" i="1" lang="ru-RU" sz="1000">
                <a:solidFill>
                  <a:srgbClr val="D9D9D9"/>
                </a:solidFill>
              </a:rPr>
              <a:t>Источник: https://www.rbc.ru/interview/business/28/12/2022/63a5876c9a79475476ebc07e</a:t>
            </a:r>
            <a:endParaRPr b="0" i="1" sz="1000">
              <a:solidFill>
                <a:srgbClr val="D9D9D9"/>
              </a:solidFill>
            </a:endParaRPr>
          </a:p>
        </p:txBody>
      </p:sp>
      <p:pic>
        <p:nvPicPr>
          <p:cNvPr id="244" name="Google Shape;244;p8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25" y="2493875"/>
            <a:ext cx="5970698" cy="36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8" title="Диаграмм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175" y="2493875"/>
            <a:ext cx="6151274" cy="378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9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50" y="540700"/>
            <a:ext cx="5530500" cy="35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 title="Диаграмм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662" y="540688"/>
            <a:ext cx="5665203" cy="350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5075" y="4098188"/>
            <a:ext cx="69818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 txBox="1"/>
          <p:nvPr/>
        </p:nvSpPr>
        <p:spPr>
          <a:xfrm>
            <a:off x="7880000" y="6231800"/>
            <a:ext cx="3869400" cy="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Источник - </a:t>
            </a:r>
            <a:r>
              <a:rPr lang="ru-RU" sz="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https://bcs-express.ru/novosti-i-analitika/aeroflot-raskryl-rezul-taty-dopemissii-aktsii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/>
          <p:nvPr/>
        </p:nvSpPr>
        <p:spPr>
          <a:xfrm>
            <a:off x="182000" y="482350"/>
            <a:ext cx="119169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700">
                <a:solidFill>
                  <a:srgbClr val="025373"/>
                </a:solidFill>
                <a:latin typeface="Calibri"/>
                <a:ea typeface="Calibri"/>
                <a:cs typeface="Calibri"/>
                <a:sym typeface="Calibri"/>
              </a:rPr>
              <a:t>Влияние изменения структуры капитала на активы и обязательства компании</a:t>
            </a:r>
            <a:endParaRPr b="1" sz="2500">
              <a:solidFill>
                <a:srgbClr val="025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0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5988" y="3829325"/>
            <a:ext cx="4680924" cy="289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0" title="Диаграмм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9375" y="926037"/>
            <a:ext cx="5267400" cy="30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title="Диаграмма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650" y="1034350"/>
            <a:ext cx="4676385" cy="28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>
            <p:ph type="title"/>
          </p:nvPr>
        </p:nvSpPr>
        <p:spPr>
          <a:xfrm>
            <a:off x="399450" y="653800"/>
            <a:ext cx="11393100" cy="1494300"/>
          </a:xfrm>
          <a:prstGeom prst="rect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-"/>
            </a:pPr>
            <a:r>
              <a:rPr b="0"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Первый заместитель гендиректора «Аэрофлота» по коммерции и финансам заявил что</a:t>
            </a:r>
            <a:endParaRPr b="0"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000">
                <a:solidFill>
                  <a:schemeClr val="dk2"/>
                </a:solidFill>
              </a:rPr>
              <a:t>“</a:t>
            </a:r>
            <a:r>
              <a:rPr b="0" i="1" lang="ru-RU"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 2024 год «Аэрофлот» увеличил пассажиропоток на 16,8%, до 55,3 млн человек. Пассажиропоток на международных линиях вырос на треть, до 12,7 млн человек, на внутренних — на 13%, до 42,6 млн.</a:t>
            </a:r>
            <a:r>
              <a:rPr b="0" lang="ru-RU" sz="2000">
                <a:solidFill>
                  <a:schemeClr val="dk2"/>
                </a:solidFill>
              </a:rPr>
              <a:t>” </a:t>
            </a:r>
            <a:endParaRPr b="0"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000">
                <a:solidFill>
                  <a:srgbClr val="D9D9D9"/>
                </a:solidFill>
              </a:rPr>
              <a:t>Источник: </a:t>
            </a:r>
            <a:r>
              <a:rPr b="0" i="1" lang="ru-RU" sz="1000">
                <a:solidFill>
                  <a:srgbClr val="D9D9D9"/>
                </a:solidFill>
              </a:rPr>
              <a:t>https://www.forbes.ru/investicii/532025-pervaa-pribyl-za-pat-let-o-cem-investoram-soobsil-aeroflot</a:t>
            </a:r>
            <a:endParaRPr b="0" i="1" sz="1000">
              <a:solidFill>
                <a:srgbClr val="D9D9D9"/>
              </a:solidFill>
            </a:endParaRPr>
          </a:p>
        </p:txBody>
      </p:sp>
      <p:pic>
        <p:nvPicPr>
          <p:cNvPr id="267" name="Google Shape;267;p11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2" y="2562212"/>
            <a:ext cx="6044925" cy="373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1" title="Диаграмм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4162" y="2562201"/>
            <a:ext cx="6044925" cy="373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type="title"/>
          </p:nvPr>
        </p:nvSpPr>
        <p:spPr>
          <a:xfrm>
            <a:off x="357675" y="487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ru-RU"/>
              <a:t>Выводы</a:t>
            </a:r>
            <a:endParaRPr/>
          </a:p>
        </p:txBody>
      </p:sp>
      <p:sp>
        <p:nvSpPr>
          <p:cNvPr id="274" name="Google Shape;274;p12"/>
          <p:cNvSpPr txBox="1"/>
          <p:nvPr>
            <p:ph idx="1" type="body"/>
          </p:nvPr>
        </p:nvSpPr>
        <p:spPr>
          <a:xfrm>
            <a:off x="466350" y="2025725"/>
            <a:ext cx="11259300" cy="23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ru-RU" sz="2400"/>
              <a:t>Тенденция</a:t>
            </a:r>
            <a:r>
              <a:rPr lang="ru-RU" sz="2400"/>
              <a:t>: 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Аэрофлот после тяжелого кризисного периода уверенно выходит на прибыльный уровень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-"/>
            </a:pPr>
            <a:r>
              <a:rPr b="1" lang="ru-RU" sz="2400">
                <a:solidFill>
                  <a:schemeClr val="dk2"/>
                </a:solidFill>
              </a:rPr>
              <a:t>Основная аномалия</a:t>
            </a:r>
            <a:r>
              <a:rPr lang="ru-RU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Критически низкая финансовая устойчивость, высокая долговая нагрузка, ухудшение ликвидности, в связи с увеличением долговой нагрузки ради финансирования восстановления и роста.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/>
        </p:nvSpPr>
        <p:spPr>
          <a:xfrm>
            <a:off x="-871750" y="1024050"/>
            <a:ext cx="140244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Calibri"/>
              <a:buNone/>
            </a:pPr>
            <a:r>
              <a:rPr b="1" i="0" lang="ru-RU" sz="1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СПАСИБО</a:t>
            </a:r>
            <a:r>
              <a:rPr b="1" lang="ru-RU" sz="14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ru-RU" sz="1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endParaRPr b="1" i="0" sz="14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Calibri"/>
              <a:buNone/>
            </a:pPr>
            <a:r>
              <a:rPr b="1" i="0" lang="ru-RU" sz="1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ВНИМАНИЕ!!!</a:t>
            </a:r>
            <a:endParaRPr b="0" i="0" sz="1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9236075" y="5993025"/>
            <a:ext cx="620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А зачем кричать?</a:t>
            </a:r>
            <a:endParaRPr i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838200" y="78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ru-RU" sz="4000"/>
              <a:t>РЕСУРСЫ</a:t>
            </a:r>
            <a:endParaRPr/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684950" y="537025"/>
            <a:ext cx="109110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3"/>
              </a:rPr>
              <a:t>https://www.rbc.ru/interview/business/28/12/2022/63a5876c9a79475476ebc07e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4"/>
              </a:rPr>
              <a:t>https://www.forbes.ru/investicii/532025-pervaa-pribyl-za-pat-let-o-cem-investoram-soobsil-aeroflot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5"/>
              </a:rPr>
              <a:t>https://ir.aeroflot.ru/reporting/financial-results/ifrs/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6"/>
              </a:rPr>
              <a:t>https://investor.turkishairlines.com/en/financial-and-operational/financial-results?page=1&amp;year=-&amp;term=12-month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7"/>
              </a:rPr>
              <a:t>https://smart-lab.ru/q/UTAR/f/y/MSFO/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500" u="sng">
                <a:solidFill>
                  <a:schemeClr val="hlink"/>
                </a:solidFill>
                <a:hlinkClick r:id="rId8"/>
              </a:rPr>
              <a:t>https://www.cbr.ru/currency_base/dynamics/</a:t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2">
      <a:dk1>
        <a:srgbClr val="000000"/>
      </a:dk1>
      <a:lt1>
        <a:srgbClr val="FFFFFF"/>
      </a:lt1>
      <a:dk2>
        <a:srgbClr val="025373"/>
      </a:dk2>
      <a:lt2>
        <a:srgbClr val="E7E6E6"/>
      </a:lt2>
      <a:accent1>
        <a:srgbClr val="025373"/>
      </a:accent1>
      <a:accent2>
        <a:srgbClr val="0378A6"/>
      </a:accent2>
      <a:accent3>
        <a:srgbClr val="F2CB05"/>
      </a:accent3>
      <a:accent4>
        <a:srgbClr val="D6D6D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2020-06-21T13:18:43Z</dcterms:created>
  <dc:creator>Юрий Козырев</dc:creator>
</cp:coreProperties>
</file>